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9" r:id="rId1"/>
    <p:sldMasterId id="2147483650" r:id="rId2"/>
    <p:sldMasterId id="2147483651" r:id="rId3"/>
  </p:sldMasterIdLst>
  <p:notesMasterIdLst>
    <p:notesMasterId r:id="rId5"/>
  </p:notesMasterIdLst>
  <p:sldIdLst>
    <p:sldId id="256" r:id="rId4"/>
  </p:sldIdLst>
  <p:sldSz cx="32918400" cy="43891200"/>
  <p:notesSz cx="6858000" cy="9144000"/>
  <p:embeddedFontLst>
    <p:embeddedFont>
      <p:font typeface="Arial Black" panose="020B0A04020102020204" pitchFamily="34" charset="0"/>
      <p:bold r:id="rId6"/>
    </p:embeddedFont>
    <p:embeddedFont>
      <p:font typeface="Arial Narrow" panose="020B0606020202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 Narrow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 Narrow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 Narrow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 Narrow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 Narrow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000" kern="1200">
        <a:solidFill>
          <a:schemeClr val="tx1"/>
        </a:solidFill>
        <a:latin typeface="Arial Narrow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000" kern="1200">
        <a:solidFill>
          <a:schemeClr val="tx1"/>
        </a:solidFill>
        <a:latin typeface="Arial Narrow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000" kern="1200">
        <a:solidFill>
          <a:schemeClr val="tx1"/>
        </a:solidFill>
        <a:latin typeface="Arial Narrow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000" kern="1200">
        <a:solidFill>
          <a:schemeClr val="tx1"/>
        </a:solidFill>
        <a:latin typeface="Arial Narrow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16">
          <p15:clr>
            <a:srgbClr val="A4A3A4"/>
          </p15:clr>
        </p15:guide>
        <p15:guide id="2" orient="horz" pos="27047">
          <p15:clr>
            <a:srgbClr val="A4A3A4"/>
          </p15:clr>
        </p15:guide>
        <p15:guide id="3" pos="329">
          <p15:clr>
            <a:srgbClr val="A4A3A4"/>
          </p15:clr>
        </p15:guide>
        <p15:guide id="4" pos="10146">
          <p15:clr>
            <a:srgbClr val="A4A3A4"/>
          </p15:clr>
        </p15:guide>
        <p15:guide id="5" pos="10522">
          <p15:clr>
            <a:srgbClr val="A4A3A4"/>
          </p15:clr>
        </p15:guide>
        <p15:guide id="6" pos="203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 autoAdjust="0"/>
    <p:restoredTop sz="99824" autoAdjust="0"/>
  </p:normalViewPr>
  <p:slideViewPr>
    <p:cSldViewPr snapToGrid="0" snapToObjects="1">
      <p:cViewPr>
        <p:scale>
          <a:sx n="33" d="100"/>
          <a:sy n="33" d="100"/>
        </p:scale>
        <p:origin x="80" y="-788"/>
      </p:cViewPr>
      <p:guideLst>
        <p:guide orient="horz" pos="3516"/>
        <p:guide orient="horz" pos="27047"/>
        <p:guide pos="329"/>
        <p:guide pos="10146"/>
        <p:guide pos="10522"/>
        <p:guide pos="2034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41536D19-560A-C6EA-D742-AD5BF319CE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11E96AF8-226E-E4BC-DAC9-92D2815768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90F7A35C-0382-6B7C-2E9D-74A7DAC151A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3125" y="685800"/>
            <a:ext cx="25717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533" name="Rectangle 5">
            <a:extLst>
              <a:ext uri="{FF2B5EF4-FFF2-40B4-BE49-F238E27FC236}">
                <a16:creationId xmlns:a16="http://schemas.microsoft.com/office/drawing/2014/main" id="{CD36EA19-B0C3-7F2A-9607-82201623BD5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0534" name="Rectangle 6">
            <a:extLst>
              <a:ext uri="{FF2B5EF4-FFF2-40B4-BE49-F238E27FC236}">
                <a16:creationId xmlns:a16="http://schemas.microsoft.com/office/drawing/2014/main" id="{3C0223BE-1DD9-3CA7-00CB-BE429D188E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>
            <a:extLst>
              <a:ext uri="{FF2B5EF4-FFF2-40B4-BE49-F238E27FC236}">
                <a16:creationId xmlns:a16="http://schemas.microsoft.com/office/drawing/2014/main" id="{637C7041-F00B-6A0D-9ADB-B902D57B26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3D5C7E9-7FA7-C247-9861-B0DA4704BC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8BD0A2C-8F5D-1901-D23A-53AE2104FC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9pPr>
          </a:lstStyle>
          <a:p>
            <a:fld id="{AD93C3D5-6D14-0E4E-AFBE-7F49E5301233}" type="slidenum">
              <a:rPr lang="en-US" altLang="en-US" sz="1200" smtClean="0">
                <a:latin typeface="Arial" panose="020B0604020202020204" pitchFamily="34" charset="0"/>
              </a:rPr>
              <a:pPr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268BA52-DC6F-9D8D-6855-9D8B157EE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FE712CF-2E59-8CF1-E95F-AE1060C37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563" y="13635038"/>
            <a:ext cx="27981275" cy="9407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125" y="24871363"/>
            <a:ext cx="23044150" cy="11217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26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07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28203525"/>
            <a:ext cx="27981275" cy="87185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18602325"/>
            <a:ext cx="27981275" cy="9601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461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6238" y="10240963"/>
            <a:ext cx="14736762" cy="289671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35400" y="10240963"/>
            <a:ext cx="14736763" cy="289671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44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238" y="9825038"/>
            <a:ext cx="14544675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238" y="13919200"/>
            <a:ext cx="14544675" cy="252888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725" y="9825038"/>
            <a:ext cx="14549438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725" y="13919200"/>
            <a:ext cx="14549438" cy="252888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189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897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947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238" y="1747838"/>
            <a:ext cx="10829925" cy="74374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9863" y="1747838"/>
            <a:ext cx="18402300" cy="374602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238" y="9185275"/>
            <a:ext cx="10829925" cy="3002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223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600" y="30724475"/>
            <a:ext cx="19751675" cy="36258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600" y="3921125"/>
            <a:ext cx="19751675" cy="26335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600" y="34350325"/>
            <a:ext cx="19751675" cy="5151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65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270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304625" y="944563"/>
            <a:ext cx="7859713" cy="382635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2313" y="944563"/>
            <a:ext cx="23429912" cy="38263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691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563" y="13635038"/>
            <a:ext cx="27981275" cy="9407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125" y="24871363"/>
            <a:ext cx="23044150" cy="112172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392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699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28203525"/>
            <a:ext cx="27981275" cy="87185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18602325"/>
            <a:ext cx="27981275" cy="96012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225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2288" y="7519988"/>
            <a:ext cx="3662362" cy="3541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7050" y="7519988"/>
            <a:ext cx="3663950" cy="3541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191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238" y="9825038"/>
            <a:ext cx="14544675" cy="40941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238" y="13919200"/>
            <a:ext cx="14544675" cy="25288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725" y="9825038"/>
            <a:ext cx="14549438" cy="40941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725" y="13919200"/>
            <a:ext cx="14549438" cy="25288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423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6304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845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238" y="1747838"/>
            <a:ext cx="10829925" cy="74374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9863" y="1747838"/>
            <a:ext cx="18402300" cy="37460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238" y="9185275"/>
            <a:ext cx="10829925" cy="30022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0833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600" y="30724475"/>
            <a:ext cx="19751675" cy="36258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600" y="3921125"/>
            <a:ext cx="19751675" cy="26335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600" y="34350325"/>
            <a:ext cx="19751675" cy="51514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7548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7429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53825" y="1697038"/>
            <a:ext cx="7910513" cy="41240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2288" y="1697038"/>
            <a:ext cx="23579137" cy="41240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3643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563" y="13635038"/>
            <a:ext cx="27981275" cy="9407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125" y="24871363"/>
            <a:ext cx="23044150" cy="112172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6138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2522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28203525"/>
            <a:ext cx="27981275" cy="87185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18602325"/>
            <a:ext cx="27981275" cy="96012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86700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2288" y="7519988"/>
            <a:ext cx="15744825" cy="3541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19513" y="7519988"/>
            <a:ext cx="15744825" cy="3541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385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238" y="9825038"/>
            <a:ext cx="14544675" cy="40941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238" y="13919200"/>
            <a:ext cx="14544675" cy="25288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725" y="9825038"/>
            <a:ext cx="14549438" cy="40941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725" y="13919200"/>
            <a:ext cx="14549438" cy="25288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5678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8712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813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238" y="1747838"/>
            <a:ext cx="10829925" cy="74374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9863" y="1747838"/>
            <a:ext cx="18402300" cy="37460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238" y="9185275"/>
            <a:ext cx="10829925" cy="30022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03454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600" y="30724475"/>
            <a:ext cx="19751675" cy="36258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600" y="3921125"/>
            <a:ext cx="19751675" cy="26335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600" y="34350325"/>
            <a:ext cx="19751675" cy="51514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82438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5854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53825" y="1697038"/>
            <a:ext cx="7910513" cy="41240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2288" y="1697038"/>
            <a:ext cx="23579137" cy="41240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36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5">
            <a:extLst>
              <a:ext uri="{FF2B5EF4-FFF2-40B4-BE49-F238E27FC236}">
                <a16:creationId xmlns:a16="http://schemas.microsoft.com/office/drawing/2014/main" id="{4DABC40D-356C-E1D8-659F-ED40F7D183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703675" y="5559425"/>
            <a:ext cx="15594013" cy="373776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1027" name="Rectangle 36">
            <a:extLst>
              <a:ext uri="{FF2B5EF4-FFF2-40B4-BE49-F238E27FC236}">
                <a16:creationId xmlns:a16="http://schemas.microsoft.com/office/drawing/2014/main" id="{1671E615-BEA7-92D2-3520-3DCED36481B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32918400" cy="46323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1028" name="Rectangle 33">
            <a:extLst>
              <a:ext uri="{FF2B5EF4-FFF2-40B4-BE49-F238E27FC236}">
                <a16:creationId xmlns:a16="http://schemas.microsoft.com/office/drawing/2014/main" id="{C2DA88FE-2F32-CBBD-7250-B7CA365A25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2288" y="5559425"/>
            <a:ext cx="15584487" cy="373776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1029" name="Text Box 14">
            <a:extLst>
              <a:ext uri="{FF2B5EF4-FFF2-40B4-BE49-F238E27FC236}">
                <a16:creationId xmlns:a16="http://schemas.microsoft.com/office/drawing/2014/main" id="{DBE17C3F-C5A9-11A5-4915-DAF44C79A1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43260963"/>
            <a:ext cx="2219325" cy="327025"/>
          </a:xfrm>
          <a:prstGeom prst="rect">
            <a:avLst/>
          </a:prstGeom>
          <a:noFill/>
          <a:ln>
            <a:noFill/>
          </a:ln>
        </p:spPr>
        <p:txBody>
          <a:bodyPr lIns="91254" tIns="45617" rIns="91254" bIns="45617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600" b="1">
                <a:solidFill>
                  <a:schemeClr val="bg2"/>
                </a:solidFill>
                <a:latin typeface="Arial" charset="0"/>
              </a:rPr>
              <a:t>TEMPLATE DESIGN © 2008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000" b="1">
                <a:solidFill>
                  <a:schemeClr val="bg2"/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7564434F-E398-6618-203E-CA8954A924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2313" y="944563"/>
            <a:ext cx="31442025" cy="293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54" tIns="45617" rIns="91254" bIns="456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Rectangle 25">
            <a:extLst>
              <a:ext uri="{FF2B5EF4-FFF2-40B4-BE49-F238E27FC236}">
                <a16:creationId xmlns:a16="http://schemas.microsoft.com/office/drawing/2014/main" id="{533A9AAA-70D3-FA85-22BE-52A2516A689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32918400" cy="43891200"/>
          </a:xfrm>
          <a:prstGeom prst="rect">
            <a:avLst/>
          </a:prstGeom>
          <a:noFill/>
          <a:ln w="31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1032" name="Line 38">
            <a:extLst>
              <a:ext uri="{FF2B5EF4-FFF2-40B4-BE49-F238E27FC236}">
                <a16:creationId xmlns:a16="http://schemas.microsoft.com/office/drawing/2014/main" id="{DE32F759-8C60-A67B-1386-9E172972896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4632325"/>
            <a:ext cx="32918400" cy="0"/>
          </a:xfrm>
          <a:prstGeom prst="line">
            <a:avLst/>
          </a:prstGeom>
          <a:noFill/>
          <a:ln w="152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rgbClr val="FFFFFF"/>
          </a:solidFill>
          <a:latin typeface="+mj-lt"/>
          <a:ea typeface="+mj-ea"/>
          <a:cs typeface="+mj-cs"/>
        </a:defRPr>
      </a:lvl1pPr>
      <a:lvl2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rgbClr val="FFFFFF"/>
          </a:solidFill>
          <a:latin typeface="Arial Black" pitchFamily="34" charset="0"/>
        </a:defRPr>
      </a:lvl2pPr>
      <a:lvl3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rgbClr val="FFFFFF"/>
          </a:solidFill>
          <a:latin typeface="Arial Black" pitchFamily="34" charset="0"/>
        </a:defRPr>
      </a:lvl3pPr>
      <a:lvl4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rgbClr val="FFFFFF"/>
          </a:solidFill>
          <a:latin typeface="Arial Black" pitchFamily="34" charset="0"/>
        </a:defRPr>
      </a:lvl4pPr>
      <a:lvl5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rgbClr val="FFFFFF"/>
          </a:solidFill>
          <a:latin typeface="Arial Black" pitchFamily="34" charset="0"/>
        </a:defRPr>
      </a:lvl5pPr>
      <a:lvl6pPr marL="457200" algn="ctr" defTabSz="912813" rtl="0" fontAlgn="base">
        <a:spcBef>
          <a:spcPct val="0"/>
        </a:spcBef>
        <a:spcAft>
          <a:spcPct val="0"/>
        </a:spcAft>
        <a:defRPr sz="8700">
          <a:solidFill>
            <a:srgbClr val="FFFFFF"/>
          </a:solidFill>
          <a:latin typeface="Arial Black" pitchFamily="34" charset="0"/>
        </a:defRPr>
      </a:lvl6pPr>
      <a:lvl7pPr marL="914400" algn="ctr" defTabSz="912813" rtl="0" fontAlgn="base">
        <a:spcBef>
          <a:spcPct val="0"/>
        </a:spcBef>
        <a:spcAft>
          <a:spcPct val="0"/>
        </a:spcAft>
        <a:defRPr sz="8700">
          <a:solidFill>
            <a:srgbClr val="FFFFFF"/>
          </a:solidFill>
          <a:latin typeface="Arial Black" pitchFamily="34" charset="0"/>
        </a:defRPr>
      </a:lvl7pPr>
      <a:lvl8pPr marL="1371600" algn="ctr" defTabSz="912813" rtl="0" fontAlgn="base">
        <a:spcBef>
          <a:spcPct val="0"/>
        </a:spcBef>
        <a:spcAft>
          <a:spcPct val="0"/>
        </a:spcAft>
        <a:defRPr sz="8700">
          <a:solidFill>
            <a:srgbClr val="FFFFFF"/>
          </a:solidFill>
          <a:latin typeface="Arial Black" pitchFamily="34" charset="0"/>
        </a:defRPr>
      </a:lvl8pPr>
      <a:lvl9pPr marL="1828800" algn="ctr" defTabSz="912813" rtl="0" fontAlgn="base">
        <a:spcBef>
          <a:spcPct val="0"/>
        </a:spcBef>
        <a:spcAft>
          <a:spcPct val="0"/>
        </a:spcAft>
        <a:defRPr sz="8700">
          <a:solidFill>
            <a:srgbClr val="FFFFFF"/>
          </a:solidFill>
          <a:latin typeface="Arial Black" pitchFamily="34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0988" algn="l" defTabSz="9128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2pPr>
      <a:lvl3pPr marL="1141413" indent="-228600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defTabSz="912813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8988" indent="-230188" algn="l" defTabSz="9128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61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33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305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77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63AF928-189B-D693-088F-E441E404538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32918400" cy="6400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93D40CC-69A5-B594-C7B2-02C8B57F14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2288" y="7519988"/>
            <a:ext cx="7478712" cy="35417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7F9783D-AF20-DA6F-A3C3-E49DB0577FF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00800"/>
            <a:ext cx="32918400" cy="173038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2053" name="Text Box 5">
            <a:extLst>
              <a:ext uri="{FF2B5EF4-FFF2-40B4-BE49-F238E27FC236}">
                <a16:creationId xmlns:a16="http://schemas.microsoft.com/office/drawing/2014/main" id="{18E4FEF0-7ACB-7661-3561-AD084B46A09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43260963"/>
            <a:ext cx="1887538" cy="411162"/>
          </a:xfrm>
          <a:prstGeom prst="rect">
            <a:avLst/>
          </a:prstGeom>
          <a:noFill/>
          <a:ln>
            <a:noFill/>
          </a:ln>
        </p:spPr>
        <p:txBody>
          <a:bodyPr lIns="91254" tIns="45617" rIns="91254" bIns="45617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600" b="1">
                <a:solidFill>
                  <a:schemeClr val="bg2"/>
                </a:solidFill>
                <a:latin typeface="Arial" charset="0"/>
              </a:rPr>
              <a:t>POSTER TEMPLATE BY: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000" b="1">
                <a:solidFill>
                  <a:schemeClr val="bg2"/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D7AB89C6-8C53-3952-554B-BC21C2D99C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2313" y="1697038"/>
            <a:ext cx="31442025" cy="293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54" tIns="45617" rIns="91254" bIns="456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9B2BFF0-8238-3E15-6148-D10CC2822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2288" y="7519988"/>
            <a:ext cx="7478712" cy="3541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6345" tIns="456345" rIns="456345" bIns="4563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54DF653A-C08B-4CD3-7BED-16B3148FAF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32918400" cy="43891200"/>
          </a:xfrm>
          <a:prstGeom prst="rect">
            <a:avLst/>
          </a:prstGeom>
          <a:noFill/>
          <a:ln w="31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672D03E4-B8A6-AF63-2021-EC61261C65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18538" y="7519988"/>
            <a:ext cx="15570200" cy="35417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2058" name="Rectangle 11">
            <a:extLst>
              <a:ext uri="{FF2B5EF4-FFF2-40B4-BE49-F238E27FC236}">
                <a16:creationId xmlns:a16="http://schemas.microsoft.com/office/drawing/2014/main" id="{029D5548-59C4-208A-FCC6-1FF5BFDAF59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809450" y="7519988"/>
            <a:ext cx="7488238" cy="35417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2pPr>
      <a:lvl3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3pPr>
      <a:lvl4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4pPr>
      <a:lvl5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5pPr>
      <a:lvl6pPr marL="457200" algn="ctr" defTabSz="912813" rtl="0" fontAlgn="base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6pPr>
      <a:lvl7pPr marL="914400" algn="ctr" defTabSz="912813" rtl="0" fontAlgn="base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7pPr>
      <a:lvl8pPr marL="1371600" algn="ctr" defTabSz="912813" rtl="0" fontAlgn="base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8pPr>
      <a:lvl9pPr marL="1828800" algn="ctr" defTabSz="912813" rtl="0" fontAlgn="base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0988" algn="l" defTabSz="9128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2pPr>
      <a:lvl3pPr marL="1141413" indent="-228600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defTabSz="912813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8988" indent="-230188" algn="l" defTabSz="9128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61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33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305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77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144A208-93FE-F1E7-BE7C-C6EBC0B9C54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32918400" cy="6400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7BFF0BA-61E1-2DE6-F80A-DCC98DF3C9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2288" y="7519988"/>
            <a:ext cx="31775400" cy="35417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0CC26A5-1AF0-342C-67A5-4733C36800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00800"/>
            <a:ext cx="32918400" cy="173038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21258BFC-F64E-072D-18DC-11BE6B6556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43260963"/>
            <a:ext cx="1887538" cy="411162"/>
          </a:xfrm>
          <a:prstGeom prst="rect">
            <a:avLst/>
          </a:prstGeom>
          <a:noFill/>
          <a:ln>
            <a:noFill/>
          </a:ln>
        </p:spPr>
        <p:txBody>
          <a:bodyPr lIns="91254" tIns="45617" rIns="91254" bIns="45617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600" b="1">
                <a:solidFill>
                  <a:schemeClr val="bg2"/>
                </a:solidFill>
                <a:latin typeface="Arial" charset="0"/>
              </a:rPr>
              <a:t>POSTER TEMPLATE BY: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000" b="1">
                <a:solidFill>
                  <a:schemeClr val="bg2"/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258A1D1F-B368-DBF8-1954-A5288746C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2313" y="1697038"/>
            <a:ext cx="31442025" cy="293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54" tIns="45617" rIns="91254" bIns="456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C2453FF-D272-5536-AA32-2EE0B31C0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2288" y="7519988"/>
            <a:ext cx="31642050" cy="3541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6345" tIns="456345" rIns="456345" bIns="4563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C9BF8208-B792-F04C-641F-B1A6152EA74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32918400" cy="43891200"/>
          </a:xfrm>
          <a:prstGeom prst="rect">
            <a:avLst/>
          </a:prstGeom>
          <a:noFill/>
          <a:ln w="31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2pPr>
      <a:lvl3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3pPr>
      <a:lvl4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4pPr>
      <a:lvl5pPr algn="ctr" defTabSz="912813" rtl="0" eaLnBrk="0" fontAlgn="base" hangingPunct="0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5pPr>
      <a:lvl6pPr marL="457200" algn="ctr" defTabSz="912813" rtl="0" fontAlgn="base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6pPr>
      <a:lvl7pPr marL="914400" algn="ctr" defTabSz="912813" rtl="0" fontAlgn="base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7pPr>
      <a:lvl8pPr marL="1371600" algn="ctr" defTabSz="912813" rtl="0" fontAlgn="base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8pPr>
      <a:lvl9pPr marL="1828800" algn="ctr" defTabSz="912813" rtl="0" fontAlgn="base">
        <a:spcBef>
          <a:spcPct val="0"/>
        </a:spcBef>
        <a:spcAft>
          <a:spcPct val="0"/>
        </a:spcAft>
        <a:defRPr sz="8700">
          <a:solidFill>
            <a:schemeClr val="tx2"/>
          </a:solidFill>
          <a:latin typeface="Arial Black" pitchFamily="34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0988" algn="l" defTabSz="9128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2pPr>
      <a:lvl3pPr marL="1141413" indent="-228600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defTabSz="912813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8988" indent="-230188" algn="l" defTabSz="9128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61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33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305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7788" indent="-230188" algn="l" defTabSz="912813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1D1848DC-E11E-DC0D-566A-1D299083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-73547"/>
            <a:ext cx="23979187" cy="5158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231" tIns="45607" rIns="91231" bIns="45607">
            <a:spAutoFit/>
          </a:bodyPr>
          <a:lstStyle/>
          <a:p>
            <a:pPr algn="ctr" defTabSz="912813" eaLnBrk="1" hangingPunct="1">
              <a:spcBef>
                <a:spcPct val="50000"/>
              </a:spcBef>
              <a:defRPr/>
            </a:pPr>
            <a:r>
              <a:rPr lang="en-US" sz="66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AgroTrack</a:t>
            </a:r>
            <a:r>
              <a:rPr lang="en-US" sz="66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Bot: Solar-Powered Farming Robot with GPS Tracking</a:t>
            </a: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2310040006 (Kaavya),2310040003(Prashanthi),2310040009(Abinanya),2310040011(Akshaya) </a:t>
            </a:r>
            <a:b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Courses: Embedded and Real-time Systems &amp; Embedded Prototype</a:t>
            </a:r>
          </a:p>
          <a:p>
            <a:pPr algn="ctr" defTabSz="912813" eaLnBrk="1" hangingPunct="1">
              <a:spcBef>
                <a:spcPct val="50000"/>
              </a:spcBef>
              <a:defRPr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Communication Engineering Department, Aziz Nagar, Hyderabad, Telangana, India</a:t>
            </a:r>
          </a:p>
          <a:p>
            <a:pPr algn="ctr" eaLnBrk="1" hangingPunct="1">
              <a:defRPr/>
            </a:pPr>
            <a:r>
              <a:rPr lang="en-IN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pPr algn="ctr" eaLnBrk="1" hangingPunct="1">
              <a:defRPr/>
            </a:pPr>
            <a:r>
              <a:rPr lang="en-IN" sz="3200" b="1" i="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Dr. Abhishek Kumar , Mrs Madhavi , </a:t>
            </a:r>
            <a:r>
              <a:rPr lang="en-IN" sz="3200" b="1" i="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Dr.A.Prasanna</a:t>
            </a:r>
            <a:r>
              <a:rPr lang="en-IN" sz="3200" b="1" i="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Lakshmi , </a:t>
            </a:r>
            <a:r>
              <a:rPr lang="en-IN" sz="3200" b="1" i="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Dr.C.Joshitha</a:t>
            </a:r>
            <a:r>
              <a:rPr lang="en-IN" sz="3200" b="1" i="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and Dr Amit Srivastava</a:t>
            </a:r>
          </a:p>
          <a:p>
            <a:pPr eaLnBrk="1" hangingPunct="1">
              <a:defRPr/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123" name="Text Box 7">
            <a:extLst>
              <a:ext uri="{FF2B5EF4-FFF2-40B4-BE49-F238E27FC236}">
                <a16:creationId xmlns:a16="http://schemas.microsoft.com/office/drawing/2014/main" id="{7F76C63A-BF70-DEAC-6AF8-FFB5D7393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4794250"/>
            <a:ext cx="15584488" cy="76993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54" tIns="45617" rIns="91254" bIns="45617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400" b="1">
                <a:solidFill>
                  <a:srgbClr val="F8F8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125" name="Text Box 351">
            <a:extLst>
              <a:ext uri="{FF2B5EF4-FFF2-40B4-BE49-F238E27FC236}">
                <a16:creationId xmlns:a16="http://schemas.microsoft.com/office/drawing/2014/main" id="{C165914C-5F06-99AD-F8DC-9D58DFE3D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2706324"/>
            <a:ext cx="15600362" cy="7683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54" tIns="45617" rIns="91254" bIns="45617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400" b="1">
                <a:solidFill>
                  <a:srgbClr val="F8F8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126" name="Text Box 353">
            <a:extLst>
              <a:ext uri="{FF2B5EF4-FFF2-40B4-BE49-F238E27FC236}">
                <a16:creationId xmlns:a16="http://schemas.microsoft.com/office/drawing/2014/main" id="{56AA6CEE-5099-2A51-E56E-F814E2D51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24315738"/>
            <a:ext cx="15584488" cy="7683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54" tIns="45617" rIns="91254" bIns="45617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Shielded Geometry And Model </a:t>
            </a:r>
          </a:p>
        </p:txBody>
      </p:sp>
      <p:sp>
        <p:nvSpPr>
          <p:cNvPr id="5127" name="Text Box 353">
            <a:extLst>
              <a:ext uri="{FF2B5EF4-FFF2-40B4-BE49-F238E27FC236}">
                <a16:creationId xmlns:a16="http://schemas.microsoft.com/office/drawing/2014/main" id="{D5C52154-9602-33E2-BA88-2DDD21AD9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6213" y="23715663"/>
            <a:ext cx="15657512" cy="7683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54" tIns="45617" rIns="91254" bIns="45617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128" name="TextBox 65">
            <a:extLst>
              <a:ext uri="{FF2B5EF4-FFF2-40B4-BE49-F238E27FC236}">
                <a16:creationId xmlns:a16="http://schemas.microsoft.com/office/drawing/2014/main" id="{D7784C9E-057E-B1E4-3771-398BCF65D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1788" y="24653824"/>
            <a:ext cx="15552737" cy="797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6700" indent="-2667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AgroTrack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integrates solar energy, automation, and GPS tracking to perform essential agricultural operations.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efficiently carries out ploughing, seed sowing, irrigation, and obstacle detection with minimal human intervention.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completely by solar energy, the system reduces dependency on non-renewable fuels, making it eco-friendly and sustainable.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microcontroller, ultrasonic sensors, and NEO-6M GPS module ensure reliable control, real-time tracking, and accurate field navigation.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show improved energy efficiency, operational accuracy, and cost-effectiveness compared to traditional farming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modular design enables easy integration of additional tools such as pesticide sprayers, fertilizer units, and advanced irrigation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smart and sustainable agriculture by reducing farmer workload and increasing productivity in small and medium-scale farms.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may include IoT-based remote monitoring, AI-driven path planning, and soil health analysis sensors for advanced precision farming.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9" name="Text Box 353">
            <a:extLst>
              <a:ext uri="{FF2B5EF4-FFF2-40B4-BE49-F238E27FC236}">
                <a16:creationId xmlns:a16="http://schemas.microsoft.com/office/drawing/2014/main" id="{A3249EC0-A8A8-76FC-9003-6E0B85344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0813" y="32743775"/>
            <a:ext cx="15657512" cy="7683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54" tIns="45617" rIns="91254" bIns="45617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altLang="en-US" sz="48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0" name="TextBox 73">
            <a:extLst>
              <a:ext uri="{FF2B5EF4-FFF2-40B4-BE49-F238E27FC236}">
                <a16:creationId xmlns:a16="http://schemas.microsoft.com/office/drawing/2014/main" id="{440356D0-509A-8A58-B6ED-12348CE7C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75100" y="33502600"/>
            <a:ext cx="15517813" cy="8217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Singh, A. Sharma, and R. Verma, “Design and Implementation of Solar-Powered Agricultural Robot for Multi-Task Farming,” International Journal of Advanced Research in Electronics and Communication Engineering, vol. 10, no. 5, pp. 245–250, 2023.</a:t>
            </a:r>
          </a:p>
          <a:p>
            <a:pPr marL="514350" indent="-51435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Kumar and M. Joshi, “Automation in Agriculture Using Renewable Energy and IoT Integration,” IEEE Transactions on Sustainable Energy, vol. 12, no. 3, pp. 480–488, 2022.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Patel, K. Reddy, and B. Rao, “Development of Multi-Functional Agricultural Robot Using ESP32 Microcontroller,” Journal of Robotics and Control Systems, vol. 8, no. 2, pp. 76–83, 2024.</a:t>
            </a:r>
          </a:p>
          <a:p>
            <a:pPr marL="514350" indent="-51435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Gupta and V. Mehta, “Design and Performance Evaluation of a Solar-Powered Field Robot for Precision Agriculture,” International Journal of Mechanical and Production Engineering Research and Development, vol. 11, no. 7, pp. 167–174, 2023.</a:t>
            </a:r>
          </a:p>
          <a:p>
            <a:pPr marL="514350" indent="-51435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Thomas, J. David, and P. Joseph, “Smart Farming Technologies Using IoT and Renewable Energy Sources,” IEEE Access, vol. 9, pp. 155432–155440, 2021.</a:t>
            </a:r>
          </a:p>
          <a:p>
            <a:pPr algn="just">
              <a:buFontTx/>
              <a:buAutoNum type="arabicPeriod"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2" name="Text Box 351">
            <a:extLst>
              <a:ext uri="{FF2B5EF4-FFF2-40B4-BE49-F238E27FC236}">
                <a16:creationId xmlns:a16="http://schemas.microsoft.com/office/drawing/2014/main" id="{F645477B-B6E7-BB5A-1171-7A56F7BCA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3200" y="4846638"/>
            <a:ext cx="15584488" cy="76993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54" tIns="45617" rIns="91254" bIns="45617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400" b="1" dirty="0">
                <a:solidFill>
                  <a:srgbClr val="F8F8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and Discussions</a:t>
            </a:r>
          </a:p>
        </p:txBody>
      </p:sp>
      <p:pic>
        <p:nvPicPr>
          <p:cNvPr id="5186" name="Picture 2">
            <a:extLst>
              <a:ext uri="{FF2B5EF4-FFF2-40B4-BE49-F238E27FC236}">
                <a16:creationId xmlns:a16="http://schemas.microsoft.com/office/drawing/2014/main" id="{B4411BA9-71E2-7DB8-9457-B346C8D28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81000"/>
            <a:ext cx="5900738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308;p42" title="Screenshot 2025-07-23 at 9.28.08 PM.png">
            <a:extLst>
              <a:ext uri="{FF2B5EF4-FFF2-40B4-BE49-F238E27FC236}">
                <a16:creationId xmlns:a16="http://schemas.microsoft.com/office/drawing/2014/main" id="{D4514F27-6F79-615E-8B24-DA0852C488C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 l="26507" t="19151" r="25313" b="12228"/>
          <a:stretch/>
        </p:blipFill>
        <p:spPr>
          <a:xfrm>
            <a:off x="18717710" y="17356670"/>
            <a:ext cx="8568375" cy="56377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4D9F83-447E-5E18-2010-21E4BFECC26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85824" y="5998827"/>
            <a:ext cx="15222539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AgroTrack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Bot is a solar-powered, GPS-enabled agricultural robot designed to automate major farming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robot performs multiple tasks such as seed sowing, ploughing, watering, seed covering, and obstacle detection with improved accuracy and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operates entirely on renewable solar energy, making the system eco-friendly and cost-effective for farmers.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ESP32 microcontroller is used as the main control unit to manage movement, task execution, and sensor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are integrated for real-time obstacle detection, ensuring safe and autonomous field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GPS tracking enables location monitoring and precision-based farming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especially suitable for rural and off-grid areas where conventional power sources may not be available.</a:t>
            </a:r>
          </a:p>
          <a:p>
            <a:pPr lvl="0"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model reduces labor dependency, increases productivity, and promotes smart and sustainable agriculture practices.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C2F06E-B260-E580-9193-7AB70E666CB8}"/>
              </a:ext>
            </a:extLst>
          </p:cNvPr>
          <p:cNvSpPr txBox="1"/>
          <p:nvPr/>
        </p:nvSpPr>
        <p:spPr>
          <a:xfrm>
            <a:off x="790273" y="13720762"/>
            <a:ext cx="1534507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vital for national development but faces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shortages, high fuel costs, and low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farming methods are time-consuming and economically unstable during peak seasons.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and smart technologies can improve productivity and reduce manual effort.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solar-powered agricultural robot for ploughing, seed sowing, and irrigation.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an ESP32 microcontroller and an ultrasonic sensor for obstacle detection and efficient operation.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promotes sustainable, energy-efficient, and cost-effective farming practices.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88A625-45A7-C6CA-899F-5D37C0705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9227" y="18429743"/>
            <a:ext cx="10224747" cy="50662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E67E1E-E461-8EF7-8EE8-6BFA374CFA15}"/>
              </a:ext>
            </a:extLst>
          </p:cNvPr>
          <p:cNvSpPr txBox="1"/>
          <p:nvPr/>
        </p:nvSpPr>
        <p:spPr>
          <a:xfrm rot="10800000" flipV="1">
            <a:off x="1164279" y="25607931"/>
            <a:ext cx="15294921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starts when solar power charges the battery and powers the ESP32 microcontroller.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components such as motors, ultrasonic sensor, and GPS module are initialized.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begins moving across the field using programmed navigation.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checks which task needs to be performed (seeding, watering, or soil covering).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respective mechanism is activated to execute the task.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the task at that position, the robot continues movement.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repeats until all field tasks are completed.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all operations are finished, the system stops automatically.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9B0300C-54F4-F2C4-7808-DD43A1DEE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989768"/>
              </p:ext>
            </p:extLst>
          </p:nvPr>
        </p:nvGraphicFramePr>
        <p:xfrm>
          <a:off x="17140136" y="5854629"/>
          <a:ext cx="14727678" cy="10474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2545">
                  <a:extLst>
                    <a:ext uri="{9D8B030D-6E8A-4147-A177-3AD203B41FA5}">
                      <a16:colId xmlns:a16="http://schemas.microsoft.com/office/drawing/2014/main" val="2336666019"/>
                    </a:ext>
                  </a:extLst>
                </a:gridCol>
                <a:gridCol w="5000017">
                  <a:extLst>
                    <a:ext uri="{9D8B030D-6E8A-4147-A177-3AD203B41FA5}">
                      <a16:colId xmlns:a16="http://schemas.microsoft.com/office/drawing/2014/main" val="3559190722"/>
                    </a:ext>
                  </a:extLst>
                </a:gridCol>
                <a:gridCol w="5175116">
                  <a:extLst>
                    <a:ext uri="{9D8B030D-6E8A-4147-A177-3AD203B41FA5}">
                      <a16:colId xmlns:a16="http://schemas.microsoft.com/office/drawing/2014/main" val="1690729701"/>
                    </a:ext>
                  </a:extLst>
                </a:gridCol>
              </a:tblGrid>
              <a:tr h="1309142">
                <a:tc>
                  <a:txBody>
                    <a:bodyPr/>
                    <a:lstStyle/>
                    <a:p>
                      <a:pPr algn="ctr"/>
                      <a:r>
                        <a:rPr lang="en-IN" sz="4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</a:t>
                      </a:r>
                      <a:r>
                        <a:rPr lang="en-IN" sz="4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AgroTrack</a:t>
                      </a:r>
                      <a:r>
                        <a:rPr lang="en-IN" sz="4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451524"/>
                  </a:ext>
                </a:extLst>
              </a:tr>
              <a:tr h="1309142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FUEL / 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 + BATTERY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550155"/>
                  </a:ext>
                </a:extLst>
              </a:tr>
              <a:tr h="1309142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 /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ULTRASONIC + GPS(NEO-6M)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15773"/>
                  </a:ext>
                </a:extLst>
              </a:tr>
              <a:tr h="1309142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TO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45-50% Reduced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236114"/>
                  </a:ext>
                </a:extLst>
              </a:tr>
              <a:tr h="1309142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~60% 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587046"/>
                  </a:ext>
                </a:extLst>
              </a:tr>
              <a:tr h="1309142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SINGLE-TASK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PLOUGHING,SOWING,IRRIGATION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(MULTI-TASK)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763597"/>
                  </a:ext>
                </a:extLst>
              </a:tr>
              <a:tr h="1309142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OBSTACLE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70-85%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~95%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031968"/>
                  </a:ext>
                </a:extLst>
              </a:tr>
              <a:tr h="1309142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COST,LIMITED BATTERY,FUEL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ECO-FRIENDLY,COST-EFFECTIVE, SUITABLE FOR AGRICULTURE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7358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D6D3C1A-E8E9-0B0B-24F5-1E769E2A8F2A}"/>
              </a:ext>
            </a:extLst>
          </p:cNvPr>
          <p:cNvSpPr txBox="1"/>
          <p:nvPr/>
        </p:nvSpPr>
        <p:spPr>
          <a:xfrm>
            <a:off x="16841788" y="16789570"/>
            <a:ext cx="164981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helps in reducing fuel dependency, minimizing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lowering cost, and enabling smart, sustainable farming.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30AB2D3-AD87-F19A-1F18-CCCD2A923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97" y="33149081"/>
            <a:ext cx="14784346" cy="86610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AABAC9"/>
      </a:lt1>
      <a:dk2>
        <a:srgbClr val="000000"/>
      </a:dk2>
      <a:lt2>
        <a:srgbClr val="808080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E8E8E8"/>
      </a:accent5>
      <a:accent6>
        <a:srgbClr val="002E5C"/>
      </a:accent6>
      <a:hlink>
        <a:srgbClr val="008000"/>
      </a:hlink>
      <a:folHlink>
        <a:srgbClr val="800000"/>
      </a:folHlink>
    </a:clrScheme>
    <a:fontScheme name="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AABAC9"/>
      </a:lt1>
      <a:dk2>
        <a:srgbClr val="000000"/>
      </a:dk2>
      <a:lt2>
        <a:srgbClr val="808080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E8E8E8"/>
      </a:accent5>
      <a:accent6>
        <a:srgbClr val="002E5C"/>
      </a:accent6>
      <a:hlink>
        <a:srgbClr val="008000"/>
      </a:hlink>
      <a:folHlink>
        <a:srgbClr val="800000"/>
      </a:folHlink>
    </a:clrScheme>
    <a:fontScheme name="1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AABAC9"/>
      </a:lt1>
      <a:dk2>
        <a:srgbClr val="000000"/>
      </a:dk2>
      <a:lt2>
        <a:srgbClr val="808080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E8E8E8"/>
      </a:accent5>
      <a:accent6>
        <a:srgbClr val="002E5C"/>
      </a:accent6>
      <a:hlink>
        <a:srgbClr val="008000"/>
      </a:hlink>
      <a:folHlink>
        <a:srgbClr val="800000"/>
      </a:folHlink>
    </a:clrScheme>
    <a:fontScheme name="2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10476</TotalTime>
  <Words>906</Words>
  <Application>Microsoft Office PowerPoint</Application>
  <PresentationFormat>Custom</PresentationFormat>
  <Paragraphs>83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 Narrow</vt:lpstr>
      <vt:lpstr>Arial Black</vt:lpstr>
      <vt:lpstr>Times New Roman</vt:lpstr>
      <vt:lpstr>Arial</vt:lpstr>
      <vt:lpstr>Custom Design</vt:lpstr>
      <vt:lpstr>1_Custom Design</vt:lpstr>
      <vt:lpstr>2_Custom Design</vt:lpstr>
      <vt:lpstr>PowerPoint Presentation</vt:lpstr>
    </vt:vector>
  </TitlesOfParts>
  <Company>www.posterpresentations.com</Company>
  <LinksUpToDate>false</LinksUpToDate>
  <SharedDoc>false</SharedDoc>
  <HyperlinkBase>http://www.posterpresentations.com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91.5x122 cm Poster Template</dc:title>
  <dc:subject>Free PowerPoint poster templates</dc:subject>
  <dc:creator>ramchoubey</dc:creator>
  <cp:keywords>poster presentation, poster design, poster template</cp:keywords>
  <dc:description>Call us if you need help with this poster template._x000d_
1-866-649-3004           _x000d_
 (c)PosterPresentations.com</dc:description>
  <cp:lastModifiedBy>GUGGILLA AKSHAYA .</cp:lastModifiedBy>
  <cp:revision>423</cp:revision>
  <dcterms:created xsi:type="dcterms:W3CDTF">2005-05-18T01:24:28Z</dcterms:created>
  <dcterms:modified xsi:type="dcterms:W3CDTF">2026-02-27T10:19:31Z</dcterms:modified>
  <cp:category>Powerpoint poster templates</cp:category>
</cp:coreProperties>
</file>